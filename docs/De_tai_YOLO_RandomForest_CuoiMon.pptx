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F8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736600" y="736600"/>
            <a:ext cx="965200" cy="355600"/>
          </a:xfrm>
          <a:prstGeom prst="roundRect">
            <a:avLst/>
          </a:prstGeom>
          <a:solidFill>
            <a:srgbClr val="1B7E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787400" y="800100"/>
            <a:ext cx="863600" cy="25527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Aptos" charset="0"/>
                <a:cs typeface="Aptos" charset="0"/>
              </a:rPr>
              <a:t>YOLO</a:t>
            </a:r>
            <a:endParaRPr lang="en-US" sz="10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803400" y="736600"/>
            <a:ext cx="1727200" cy="355600"/>
          </a:xfrm>
          <a:prstGeom prst="round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1854200" y="800100"/>
            <a:ext cx="1625600" cy="25527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Aptos" charset="0"/>
                <a:cs typeface="Aptos" charset="0"/>
              </a:rPr>
              <a:t>Random Forest</a:t>
            </a:r>
            <a:endParaRPr lang="en-US" sz="10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36600" y="1600200"/>
            <a:ext cx="10414000" cy="37846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b="1">
                <a:solidFill>
                  <a:srgbClr val="5D6A77"/>
                </a:solidFill>
                <a:latin typeface="Aptos" charset="0"/>
                <a:cs typeface="Aptos" charset="0"/>
              </a:rPr>
              <a:t>ĐỀ TÀI CUỐI MÔN HỌC</a:t>
            </a:r>
            <a:endParaRPr lang="en-US" b="1">
              <a:solidFill>
                <a:srgbClr val="5D6A77"/>
              </a:solidFill>
              <a:latin typeface="Aptos" charset="0"/>
              <a:cs typeface="Aptos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11200" y="2108200"/>
            <a:ext cx="10414000" cy="114744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3400" b="1">
                <a:solidFill>
                  <a:srgbClr val="162D42"/>
                </a:solidFill>
                <a:latin typeface="Aptos" charset="0"/>
                <a:cs typeface="Aptos" charset="0"/>
              </a:rPr>
              <a:t>Nhận diện đối tượng chi tiêu bằng YOLO và phân loại danh mục bằng Random Forest</a:t>
            </a:r>
            <a:endParaRPr lang="en-US" sz="34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762000" y="4064000"/>
            <a:ext cx="9652000" cy="56324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500">
                <a:solidFill>
                  <a:srgbClr val="495563"/>
                </a:solidFill>
                <a:latin typeface="Aptos" charset="0"/>
                <a:cs typeface="Aptos" charset="0"/>
              </a:rPr>
              <a:t>Phạm vi môn học: tập trung vào mô hình YOLO + Random Forest, không trình bày toàn bộ ứng dụng quản lý chi tiêu.</a:t>
            </a:r>
            <a:endParaRPr lang="en-US" sz="1500">
              <a:solidFill>
                <a:srgbClr val="495563"/>
              </a:solidFill>
              <a:latin typeface="Aptos" charset="0"/>
              <a:cs typeface="Aptos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762000" y="5588000"/>
            <a:ext cx="10160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>
                <a:solidFill>
                  <a:srgbClr val="2A3746"/>
                </a:solidFill>
                <a:latin typeface="Aptos" charset="0"/>
                <a:cs typeface="Aptos" charset="0"/>
              </a:rPr>
              <a:t>Nhóm 3: Phạm Thế Sang - Nguyễn Kim Quang - Nguyễn Duy Khánh - Hoàng Bích Diệp</a:t>
            </a:r>
            <a:endParaRPr lang="en-US" sz="12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762000" y="5943600"/>
            <a:ext cx="6604000" cy="27051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100">
                <a:solidFill>
                  <a:srgbClr val="5D6A77"/>
                </a:solidFill>
                <a:latin typeface="Aptos" charset="0"/>
                <a:cs typeface="Aptos" charset="0"/>
              </a:rPr>
              <a:t>GVHD: TS. Nguyễn Quốc Huy</a:t>
            </a:r>
            <a:endParaRPr lang="en-US" sz="1100">
              <a:solidFill>
                <a:srgbClr val="5D6A77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33400" y="431800"/>
            <a:ext cx="10668000" cy="51689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2700" b="1">
                <a:solidFill>
                  <a:srgbClr val="162D42"/>
                </a:solidFill>
                <a:latin typeface="Aptos" charset="0"/>
                <a:cs typeface="Aptos" charset="0"/>
              </a:rPr>
              <a:t>Mục tiêu trình bày</a:t>
            </a:r>
            <a:endParaRPr lang="en-US" sz="27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84200" y="1143000"/>
            <a:ext cx="10414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>
                <a:solidFill>
                  <a:srgbClr val="5D6A77"/>
                </a:solidFill>
                <a:latin typeface="Aptos" charset="0"/>
                <a:cs typeface="Aptos" charset="0"/>
              </a:rPr>
              <a:t>Bám đúng yêu cầu: đề tài, lý thuyết, ví dụ nhỏ, nội dung cuối môn và phân công</a:t>
            </a:r>
            <a:endParaRPr lang="en-US" sz="1200">
              <a:solidFill>
                <a:srgbClr val="5D6A77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4200" y="1574800"/>
            <a:ext cx="2667000" cy="38100"/>
          </a:xfrm>
          <a:prstGeom prst="rect">
            <a:avLst/>
          </a:prstGeom>
          <a:solidFill>
            <a:srgbClr val="1B7E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60400" y="1968500"/>
            <a:ext cx="3429000" cy="3175000"/>
          </a:xfrm>
          <a:prstGeom prst="rect">
            <a:avLst/>
          </a:prstGeom>
          <a:solidFill>
            <a:srgbClr val="F8FAFC"/>
          </a:solidFill>
          <a:ln>
            <a:solidFill>
              <a:srgbClr val="D9E2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863600" y="2120900"/>
            <a:ext cx="30226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Đề tài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0400" y="1968500"/>
            <a:ext cx="76200" cy="3175000"/>
          </a:xfrm>
          <a:prstGeom prst="rect">
            <a:avLst/>
          </a:prstGeom>
          <a:solidFill>
            <a:srgbClr val="1B7E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889000" y="2578100"/>
            <a:ext cx="2997200" cy="70167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Lý do chọn đề tài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Bài toán cần giải quyết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Phạm vi nghiên cứu trong môn học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81500" y="1968500"/>
            <a:ext cx="3429000" cy="3175000"/>
          </a:xfrm>
          <a:prstGeom prst="rect">
            <a:avLst/>
          </a:prstGeom>
          <a:solidFill>
            <a:srgbClr val="F8FAFC"/>
          </a:solidFill>
          <a:ln>
            <a:solidFill>
              <a:srgbClr val="D9E2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4584700" y="2120900"/>
            <a:ext cx="30226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Cơ sở lý thuyết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81500" y="1968500"/>
            <a:ext cx="76200" cy="3175000"/>
          </a:xfrm>
          <a:prstGeom prst="rect">
            <a:avLst/>
          </a:prstGeom>
          <a:solidFill>
            <a:srgbClr val="4B556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4610100" y="2578100"/>
            <a:ext cx="2997200" cy="110172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YOLO và CNN trong phát hiện đối tượng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Random Forest trong bài toán phân loại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Các chỉ số: confidence, IoU, voting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102600" y="1968500"/>
            <a:ext cx="3429000" cy="3175000"/>
          </a:xfrm>
          <a:prstGeom prst="rect">
            <a:avLst/>
          </a:prstGeom>
          <a:solidFill>
            <a:srgbClr val="F8FAFC"/>
          </a:solidFill>
          <a:ln>
            <a:solidFill>
              <a:srgbClr val="D9E2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8305800" y="2120900"/>
            <a:ext cx="30226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Dự kiến cuối môn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02600" y="1968500"/>
            <a:ext cx="76200" cy="3175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8331200" y="2578100"/>
            <a:ext cx="2997200" cy="90170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Quy trình YOLO -&gt; feature -&gt; Random Forest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Bộ dữ liệu mẫu và đánh giá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Phân công công việc nhóm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533400" y="6413500"/>
            <a:ext cx="7112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Đề tài cuối môn: YOLO + Random Forest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0947400" y="6413500"/>
            <a:ext cx="381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r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2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33400" y="431800"/>
            <a:ext cx="10668000" cy="51689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2700" b="1">
                <a:solidFill>
                  <a:srgbClr val="162D42"/>
                </a:solidFill>
                <a:latin typeface="Aptos" charset="0"/>
                <a:cs typeface="Aptos" charset="0"/>
              </a:rPr>
              <a:t>Đề tài</a:t>
            </a:r>
            <a:endParaRPr lang="en-US" sz="27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84200" y="1143000"/>
            <a:ext cx="10414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>
                <a:solidFill>
                  <a:srgbClr val="5D6A77"/>
                </a:solidFill>
                <a:latin typeface="Aptos" charset="0"/>
                <a:cs typeface="Aptos" charset="0"/>
              </a:rPr>
              <a:t>Nhận diện hình ảnh chi tiêu và gợi ý danh mục bằng hai mô hình chính</a:t>
            </a:r>
            <a:endParaRPr lang="en-US" sz="1200">
              <a:solidFill>
                <a:srgbClr val="5D6A77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4200" y="1574800"/>
            <a:ext cx="2667000" cy="38100"/>
          </a:xfrm>
          <a:prstGeom prst="rect">
            <a:avLst/>
          </a:prstGeom>
          <a:solidFill>
            <a:srgbClr val="1B7E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87400" y="2006600"/>
            <a:ext cx="4953000" cy="3302000"/>
          </a:xfrm>
          <a:prstGeom prst="rect">
            <a:avLst/>
          </a:prstGeom>
          <a:solidFill>
            <a:srgbClr val="F8FAFC"/>
          </a:solidFill>
          <a:ln>
            <a:solidFill>
              <a:srgbClr val="D9E2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990600" y="2159000"/>
            <a:ext cx="45466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Vấn đề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7400" y="2006600"/>
            <a:ext cx="76200" cy="3302000"/>
          </a:xfrm>
          <a:prstGeom prst="rect">
            <a:avLst/>
          </a:prstGeom>
          <a:solidFill>
            <a:srgbClr val="1B7E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016000" y="2616200"/>
            <a:ext cx="4521200" cy="110172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Người dùng thường phải nhập danh mục chi tiêu thủ công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Ảnh món ăn, đồ uống, sách vở, quần áo có thể gợi ý loại chi tiêu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Cần một quy trình tự động hỗ trợ bước phân loại ban đầu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51600" y="2006600"/>
            <a:ext cx="4953000" cy="3302000"/>
          </a:xfrm>
          <a:prstGeom prst="rect">
            <a:avLst/>
          </a:prstGeom>
          <a:solidFill>
            <a:srgbClr val="F8FAFC"/>
          </a:solidFill>
          <a:ln>
            <a:solidFill>
              <a:srgbClr val="D9E2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6654800" y="2159000"/>
            <a:ext cx="45466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Hướng giải quyết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51600" y="2006600"/>
            <a:ext cx="76200" cy="3302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6680200" y="2616200"/>
            <a:ext cx="4521200" cy="90170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YOLO phát hiện đối tượng xuất hiện trong ảnh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Kết quả nhận diện được chuyển thành đặc trưng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Random Forest dự đoán danh mục: ăn uống, học tập, mua sắm, di chuyển...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33400" y="6413500"/>
            <a:ext cx="7112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Đề tài cuối môn: YOLO + Random Forest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10947400" y="6413500"/>
            <a:ext cx="381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r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3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33400" y="431800"/>
            <a:ext cx="10668000" cy="51689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2700" b="1">
                <a:solidFill>
                  <a:srgbClr val="162D42"/>
                </a:solidFill>
                <a:latin typeface="Aptos" charset="0"/>
                <a:cs typeface="Aptos" charset="0"/>
              </a:rPr>
              <a:t>Phạm vi đề tài trong môn học</a:t>
            </a:r>
            <a:endParaRPr lang="en-US" sz="27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84200" y="1143000"/>
            <a:ext cx="10414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>
                <a:solidFill>
                  <a:srgbClr val="5D6A77"/>
                </a:solidFill>
                <a:latin typeface="Aptos" charset="0"/>
                <a:cs typeface="Aptos" charset="0"/>
              </a:rPr>
              <a:t>Giới hạn để phù hợp yêu cầu học phần</a:t>
            </a:r>
            <a:endParaRPr lang="en-US" sz="1200">
              <a:solidFill>
                <a:srgbClr val="5D6A77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4200" y="1574800"/>
            <a:ext cx="2667000" cy="38100"/>
          </a:xfrm>
          <a:prstGeom prst="rect">
            <a:avLst/>
          </a:prstGeom>
          <a:solidFill>
            <a:srgbClr val="1B7E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87400" y="2006600"/>
            <a:ext cx="4953000" cy="3302000"/>
          </a:xfrm>
          <a:prstGeom prst="rect">
            <a:avLst/>
          </a:prstGeom>
          <a:solidFill>
            <a:srgbClr val="F8FAFC"/>
          </a:solidFill>
          <a:ln>
            <a:solidFill>
              <a:srgbClr val="D9E2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990600" y="2159000"/>
            <a:ext cx="45466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Tập trung làm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7400" y="2006600"/>
            <a:ext cx="76200" cy="33020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016000" y="2616200"/>
            <a:ext cx="4521200" cy="90170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Tìm hiểu lý thuyết YOLO/CNN và Random Forest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Xây dựng pipeline nhận diện -&gt; trích xuất đặc trưng -&gt; phân loại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Thử nghiệm với dữ liệu ảnh mẫu và báo cáo kết quả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51600" y="2006600"/>
            <a:ext cx="4953000" cy="3302000"/>
          </a:xfrm>
          <a:prstGeom prst="rect">
            <a:avLst/>
          </a:prstGeom>
          <a:solidFill>
            <a:srgbClr val="F8FAFC"/>
          </a:solidFill>
          <a:ln>
            <a:solidFill>
              <a:srgbClr val="D9E2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6654800" y="2159000"/>
            <a:ext cx="45466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Không tập trung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51600" y="2006600"/>
            <a:ext cx="76200" cy="3302000"/>
          </a:xfrm>
          <a:prstGeom prst="rect">
            <a:avLst/>
          </a:prstGeom>
          <a:solidFill>
            <a:srgbClr val="BE123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6680200" y="2616200"/>
            <a:ext cx="4521200" cy="90170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Không trình bày toàn bộ app quản lý chi tiêu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Không đi sâu xử lý đăng nhập, ví tiền, báo cáo tài chính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Không dùng YOLO để đọc chữ/số tiền trên hóa đơn; phần đó cần OCR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33400" y="6413500"/>
            <a:ext cx="7112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Đề tài cuối môn: YOLO + Random Forest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10947400" y="6413500"/>
            <a:ext cx="381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r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4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33400" y="431800"/>
            <a:ext cx="10668000" cy="51689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2700" b="1">
                <a:solidFill>
                  <a:srgbClr val="162D42"/>
                </a:solidFill>
                <a:latin typeface="Aptos" charset="0"/>
                <a:cs typeface="Aptos" charset="0"/>
              </a:rPr>
              <a:t>Cơ sở lý thuyết: CNN</a:t>
            </a:r>
            <a:endParaRPr lang="en-US" sz="27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84200" y="1143000"/>
            <a:ext cx="10414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>
                <a:solidFill>
                  <a:srgbClr val="5D6A77"/>
                </a:solidFill>
                <a:latin typeface="Aptos" charset="0"/>
                <a:cs typeface="Aptos" charset="0"/>
              </a:rPr>
              <a:t>CNN là nền tảng học đặc trưng hình ảnh trong các mô hình nhận diện</a:t>
            </a:r>
            <a:endParaRPr lang="en-US" sz="1200">
              <a:solidFill>
                <a:srgbClr val="5D6A77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4200" y="1574800"/>
            <a:ext cx="2667000" cy="38100"/>
          </a:xfrm>
          <a:prstGeom prst="rect">
            <a:avLst/>
          </a:prstGeom>
          <a:solidFill>
            <a:srgbClr val="1B7E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87400" y="2006600"/>
            <a:ext cx="4953000" cy="3302000"/>
          </a:xfrm>
          <a:prstGeom prst="rect">
            <a:avLst/>
          </a:prstGeom>
          <a:solidFill>
            <a:srgbClr val="F8FAFC"/>
          </a:solidFill>
          <a:ln>
            <a:solidFill>
              <a:srgbClr val="D9E2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990600" y="2159000"/>
            <a:ext cx="45466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Vai trò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7400" y="2006600"/>
            <a:ext cx="76200" cy="3302000"/>
          </a:xfrm>
          <a:prstGeom prst="rect">
            <a:avLst/>
          </a:prstGeom>
          <a:solidFill>
            <a:srgbClr val="4B556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016000" y="2616200"/>
            <a:ext cx="4521200" cy="70167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Tự học cạnh, màu sắc, texture và hình dạng từ ảnh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Các lớp convolution giúp giữ thông tin không gian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Đặc trưng cấp cao hỗ trợ nhận diện đồ vật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51600" y="2006600"/>
            <a:ext cx="4953000" cy="3302000"/>
          </a:xfrm>
          <a:prstGeom prst="rect">
            <a:avLst/>
          </a:prstGeom>
          <a:solidFill>
            <a:srgbClr val="F8FAFC"/>
          </a:solidFill>
          <a:ln>
            <a:solidFill>
              <a:srgbClr val="D9E2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6654800" y="2159000"/>
            <a:ext cx="45466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Ví dụ nhỏ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51600" y="2006600"/>
            <a:ext cx="76200" cy="3302000"/>
          </a:xfrm>
          <a:prstGeom prst="rect">
            <a:avLst/>
          </a:prstGeom>
          <a:solidFill>
            <a:srgbClr val="1B7E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6680200" y="2616200"/>
            <a:ext cx="4521200" cy="90170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Ảnh ly trà sữa: CNN học vùng nắp ly, màu đồ uống, ống hút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Ảnh sách: CNN học cạnh chữ nhật, bìa sách, chữ trên bìa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Đặc trưng học được là đầu vào quan trọng cho YOLO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33400" y="6413500"/>
            <a:ext cx="7112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Đề tài cuối môn: YOLO + Random Forest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10947400" y="6413500"/>
            <a:ext cx="381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r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5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33400" y="431800"/>
            <a:ext cx="10668000" cy="51689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2700" b="1">
                <a:solidFill>
                  <a:srgbClr val="162D42"/>
                </a:solidFill>
                <a:latin typeface="Aptos" charset="0"/>
                <a:cs typeface="Aptos" charset="0"/>
              </a:rPr>
              <a:t>Cơ sở lý thuyết: YOLO</a:t>
            </a:r>
            <a:endParaRPr lang="en-US" sz="27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84200" y="1143000"/>
            <a:ext cx="10414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>
                <a:solidFill>
                  <a:srgbClr val="5D6A77"/>
                </a:solidFill>
                <a:latin typeface="Aptos" charset="0"/>
                <a:cs typeface="Aptos" charset="0"/>
              </a:rPr>
              <a:t>YOLO phát hiện vị trí và nhãn đối tượng trong ảnh</a:t>
            </a:r>
            <a:endParaRPr lang="en-US" sz="1200">
              <a:solidFill>
                <a:srgbClr val="5D6A77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4200" y="1574800"/>
            <a:ext cx="2667000" cy="38100"/>
          </a:xfrm>
          <a:prstGeom prst="rect">
            <a:avLst/>
          </a:prstGeom>
          <a:solidFill>
            <a:srgbClr val="1B7E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87400" y="2006600"/>
            <a:ext cx="4953000" cy="3302000"/>
          </a:xfrm>
          <a:prstGeom prst="rect">
            <a:avLst/>
          </a:prstGeom>
          <a:solidFill>
            <a:srgbClr val="F8FAFC"/>
          </a:solidFill>
          <a:ln>
            <a:solidFill>
              <a:srgbClr val="D9E2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990600" y="2159000"/>
            <a:ext cx="45466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Khái niệm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7400" y="2006600"/>
            <a:ext cx="76200" cy="3302000"/>
          </a:xfrm>
          <a:prstGeom prst="rect">
            <a:avLst/>
          </a:prstGeom>
          <a:solidFill>
            <a:srgbClr val="1B7E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016000" y="2616200"/>
            <a:ext cx="4521200" cy="70167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YOLO là viết tắt của You Only Look Once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Mô hình dự đoán nhiều đối tượng trong một lần xử lý ảnh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Đầu ra gồm bounding box, class và confidence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51600" y="2006600"/>
            <a:ext cx="4953000" cy="3302000"/>
          </a:xfrm>
          <a:prstGeom prst="rect">
            <a:avLst/>
          </a:prstGeom>
          <a:solidFill>
            <a:srgbClr val="F8FAFC"/>
          </a:solidFill>
          <a:ln>
            <a:solidFill>
              <a:srgbClr val="D9E2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6654800" y="2159000"/>
            <a:ext cx="45466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Liên quan đề tài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51600" y="2006600"/>
            <a:ext cx="76200" cy="3302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6680200" y="2616200"/>
            <a:ext cx="4521200" cy="70167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Ảnh đồ uống -&gt; phát hiện ly nước/trà sữa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Ảnh quần áo -&gt; phát hiện áo/quần/giày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Ảnh sách vở -&gt; phát hiện sách, vở, bút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33400" y="6413500"/>
            <a:ext cx="7112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Đề tài cuối môn: YOLO + Random Forest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10947400" y="6413500"/>
            <a:ext cx="381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r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6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33400" y="431800"/>
            <a:ext cx="10668000" cy="51689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2700" b="1">
                <a:solidFill>
                  <a:srgbClr val="162D42"/>
                </a:solidFill>
                <a:latin typeface="Aptos" charset="0"/>
                <a:cs typeface="Aptos" charset="0"/>
              </a:rPr>
              <a:t>Ví dụ YOLO trong đề tài</a:t>
            </a:r>
            <a:endParaRPr lang="en-US" sz="27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84200" y="1143000"/>
            <a:ext cx="10414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>
                <a:solidFill>
                  <a:srgbClr val="5D6A77"/>
                </a:solidFill>
                <a:latin typeface="Aptos" charset="0"/>
                <a:cs typeface="Aptos" charset="0"/>
              </a:rPr>
              <a:t>Từ ảnh đầu vào đến kết quả nhận diện</a:t>
            </a:r>
            <a:endParaRPr lang="en-US" sz="1200">
              <a:solidFill>
                <a:srgbClr val="5D6A77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4200" y="1574800"/>
            <a:ext cx="2667000" cy="38100"/>
          </a:xfrm>
          <a:prstGeom prst="rect">
            <a:avLst/>
          </a:prstGeom>
          <a:solidFill>
            <a:srgbClr val="1B7E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016000" y="2159000"/>
            <a:ext cx="431800" cy="431800"/>
          </a:xfrm>
          <a:prstGeom prst="ellipse">
            <a:avLst/>
          </a:prstGeom>
          <a:solidFill>
            <a:srgbClr val="1B7E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1028700" y="2235200"/>
            <a:ext cx="406400" cy="27051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Aptos" charset="0"/>
                <a:cs typeface="Aptos" charset="0"/>
              </a:rPr>
              <a:t>1</a:t>
            </a:r>
            <a:endParaRPr lang="en-US" sz="11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574800" y="2133600"/>
            <a:ext cx="2362200" cy="31686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400" b="1">
                <a:solidFill>
                  <a:srgbClr val="162D42"/>
                </a:solidFill>
                <a:latin typeface="Aptos" charset="0"/>
                <a:cs typeface="Aptos" charset="0"/>
              </a:rPr>
              <a:t>Ảnh đầu vào</a:t>
            </a:r>
            <a:endParaRPr lang="en-US" sz="14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574800" y="2463800"/>
            <a:ext cx="2362200" cy="27051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100">
                <a:solidFill>
                  <a:srgbClr val="495563"/>
                </a:solidFill>
                <a:latin typeface="Aptos" charset="0"/>
                <a:cs typeface="Aptos" charset="0"/>
              </a:rPr>
              <a:t>Ví dụ: ảnh ly trà sữa hoặc sách vở.</a:t>
            </a:r>
            <a:endParaRPr lang="en-US" sz="1100">
              <a:solidFill>
                <a:srgbClr val="495563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4445000" y="2159000"/>
            <a:ext cx="431800" cy="431800"/>
          </a:xfrm>
          <a:prstGeom prst="ellipse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4457700" y="2235200"/>
            <a:ext cx="406400" cy="27051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Aptos" charset="0"/>
                <a:cs typeface="Aptos" charset="0"/>
              </a:rPr>
              <a:t>2</a:t>
            </a:r>
            <a:endParaRPr lang="en-US" sz="11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003800" y="2133600"/>
            <a:ext cx="2616200" cy="31686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400" b="1">
                <a:solidFill>
                  <a:srgbClr val="162D42"/>
                </a:solidFill>
                <a:latin typeface="Aptos" charset="0"/>
                <a:cs typeface="Aptos" charset="0"/>
              </a:rPr>
              <a:t>YOLO phát hiện</a:t>
            </a:r>
            <a:endParaRPr lang="en-US" sz="14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5003800" y="2463800"/>
            <a:ext cx="2616200" cy="44005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100">
                <a:solidFill>
                  <a:srgbClr val="495563"/>
                </a:solidFill>
                <a:latin typeface="Aptos" charset="0"/>
                <a:cs typeface="Aptos" charset="0"/>
              </a:rPr>
              <a:t>Dự đoán box, nhãn đối tượng và confidence.</a:t>
            </a:r>
            <a:endParaRPr lang="en-US" sz="1100">
              <a:solidFill>
                <a:srgbClr val="495563"/>
              </a:solidFill>
              <a:latin typeface="Aptos" charset="0"/>
              <a:cs typeface="Aptos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128000" y="2159000"/>
            <a:ext cx="431800" cy="431800"/>
          </a:xfrm>
          <a:prstGeom prst="ellipse">
            <a:avLst/>
          </a:prstGeom>
          <a:solidFill>
            <a:srgbClr val="4B556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8140700" y="2235200"/>
            <a:ext cx="406400" cy="27051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Aptos" charset="0"/>
                <a:cs typeface="Aptos" charset="0"/>
              </a:rPr>
              <a:t>3</a:t>
            </a:r>
            <a:endParaRPr lang="en-US" sz="11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8686800" y="2133600"/>
            <a:ext cx="2489200" cy="31686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400" b="1">
                <a:solidFill>
                  <a:srgbClr val="162D42"/>
                </a:solidFill>
                <a:latin typeface="Aptos" charset="0"/>
                <a:cs typeface="Aptos" charset="0"/>
              </a:rPr>
              <a:t>Kết quả</a:t>
            </a:r>
            <a:endParaRPr lang="en-US" sz="14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8686800" y="2463800"/>
            <a:ext cx="2489200" cy="27051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100">
                <a:solidFill>
                  <a:srgbClr val="495563"/>
                </a:solidFill>
                <a:latin typeface="Aptos" charset="0"/>
                <a:cs typeface="Aptos" charset="0"/>
              </a:rPr>
              <a:t>cup 0.91; straw 0.78; book 0.84...</a:t>
            </a:r>
            <a:endParaRPr lang="en-US" sz="1100">
              <a:solidFill>
                <a:srgbClr val="495563"/>
              </a:solidFill>
              <a:latin typeface="Aptos" charset="0"/>
              <a:cs typeface="Aptos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143000" y="4191000"/>
            <a:ext cx="9652000" cy="59372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ctr"/>
            <a:r>
              <a:rPr lang="en-US" sz="1600">
                <a:solidFill>
                  <a:srgbClr val="2A3746"/>
                </a:solidFill>
                <a:latin typeface="Aptos" charset="0"/>
                <a:cs typeface="Aptos" charset="0"/>
              </a:rPr>
              <a:t>Ví dụ nhỏ: nếu YOLO phát hiện 'cup' với confidence cao, đặc trưng này có thể gợi ý nhóm ăn uống cho bước Random Forest.</a:t>
            </a:r>
            <a:endParaRPr lang="en-US" sz="16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533400" y="6413500"/>
            <a:ext cx="7112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Đề tài cuối môn: YOLO + Random Forest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10947400" y="6413500"/>
            <a:ext cx="381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r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7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33400" y="431800"/>
            <a:ext cx="10668000" cy="51689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2700" b="1">
                <a:solidFill>
                  <a:srgbClr val="162D42"/>
                </a:solidFill>
                <a:latin typeface="Aptos" charset="0"/>
                <a:cs typeface="Aptos" charset="0"/>
              </a:rPr>
              <a:t>IoU, Confidence và NMS</a:t>
            </a:r>
            <a:endParaRPr lang="en-US" sz="27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84200" y="1143000"/>
            <a:ext cx="10414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>
                <a:solidFill>
                  <a:srgbClr val="5D6A77"/>
                </a:solidFill>
                <a:latin typeface="Aptos" charset="0"/>
                <a:cs typeface="Aptos" charset="0"/>
              </a:rPr>
              <a:t>Các khái niệm dùng để lọc và đánh giá kết quả phát hiện đối tượng</a:t>
            </a:r>
            <a:endParaRPr lang="en-US" sz="1200">
              <a:solidFill>
                <a:srgbClr val="5D6A77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4200" y="1574800"/>
            <a:ext cx="2667000" cy="38100"/>
          </a:xfrm>
          <a:prstGeom prst="rect">
            <a:avLst/>
          </a:prstGeom>
          <a:solidFill>
            <a:srgbClr val="1B7E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87400" y="2006600"/>
            <a:ext cx="4953000" cy="3302000"/>
          </a:xfrm>
          <a:prstGeom prst="rect">
            <a:avLst/>
          </a:prstGeom>
          <a:solidFill>
            <a:srgbClr val="F8FAFC"/>
          </a:solidFill>
          <a:ln>
            <a:solidFill>
              <a:srgbClr val="D9E2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990600" y="2159000"/>
            <a:ext cx="45466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Confidence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7400" y="2006600"/>
            <a:ext cx="76200" cy="3302000"/>
          </a:xfrm>
          <a:prstGeom prst="rect">
            <a:avLst/>
          </a:prstGeom>
          <a:solidFill>
            <a:srgbClr val="1B7E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016000" y="2616200"/>
            <a:ext cx="4521200" cy="70167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Mức tin cậy của mô hình với một dự đoán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Ví dụ: cup 0.91, book 0.84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Có thể bỏ các dự đoán dưới ngưỡng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51600" y="2006600"/>
            <a:ext cx="4953000" cy="3302000"/>
          </a:xfrm>
          <a:prstGeom prst="rect">
            <a:avLst/>
          </a:prstGeom>
          <a:solidFill>
            <a:srgbClr val="F8FAFC"/>
          </a:solidFill>
          <a:ln>
            <a:solidFill>
              <a:srgbClr val="D9E2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6654800" y="2159000"/>
            <a:ext cx="45466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IoU &amp; NMS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51600" y="2006600"/>
            <a:ext cx="76200" cy="3302000"/>
          </a:xfrm>
          <a:prstGeom prst="rect">
            <a:avLst/>
          </a:prstGeom>
          <a:solidFill>
            <a:srgbClr val="4B556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6680200" y="2616200"/>
            <a:ext cx="4521200" cy="70167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IoU đo mức chồng lấn giữa hai bounding box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NMS giữ box tốt nhất và loại box trùng lặp quá nhiều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Giúp kết quả YOLO gọn và ít nhiễu hơn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33400" y="6413500"/>
            <a:ext cx="7112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Đề tài cuối môn: YOLO + Random Forest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10947400" y="6413500"/>
            <a:ext cx="381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r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8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33400" y="431800"/>
            <a:ext cx="10668000" cy="51689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2700" b="1">
                <a:solidFill>
                  <a:srgbClr val="162D42"/>
                </a:solidFill>
                <a:latin typeface="Aptos" charset="0"/>
                <a:cs typeface="Aptos" charset="0"/>
              </a:rPr>
              <a:t>Cơ sở lý thuyết: Random Forest</a:t>
            </a:r>
            <a:endParaRPr lang="en-US" sz="27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84200" y="1143000"/>
            <a:ext cx="10414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>
                <a:solidFill>
                  <a:srgbClr val="5D6A77"/>
                </a:solidFill>
                <a:latin typeface="Aptos" charset="0"/>
                <a:cs typeface="Aptos" charset="0"/>
              </a:rPr>
              <a:t>Random Forest dùng nhiều cây quyết định để phân loại</a:t>
            </a:r>
            <a:endParaRPr lang="en-US" sz="1200">
              <a:solidFill>
                <a:srgbClr val="5D6A77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4200" y="1574800"/>
            <a:ext cx="2667000" cy="38100"/>
          </a:xfrm>
          <a:prstGeom prst="rect">
            <a:avLst/>
          </a:prstGeom>
          <a:solidFill>
            <a:srgbClr val="1B7E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87400" y="2006600"/>
            <a:ext cx="4953000" cy="3302000"/>
          </a:xfrm>
          <a:prstGeom prst="rect">
            <a:avLst/>
          </a:prstGeom>
          <a:solidFill>
            <a:srgbClr val="F8FAFC"/>
          </a:solidFill>
          <a:ln>
            <a:solidFill>
              <a:srgbClr val="D9E2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990600" y="2159000"/>
            <a:ext cx="45466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Nguyên lý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7400" y="2006600"/>
            <a:ext cx="76200" cy="3302000"/>
          </a:xfrm>
          <a:prstGeom prst="rect">
            <a:avLst/>
          </a:prstGeom>
          <a:solidFill>
            <a:srgbClr val="4B556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016000" y="2616200"/>
            <a:ext cx="4521200" cy="70167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Tạo nhiều Decision Tree từ các mẫu dữ liệu khác nhau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Mỗi cây học một phần đặc trưng và đưa ra dự đoán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Kết quả cuối được chọn theo đa số phiếu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51600" y="2006600"/>
            <a:ext cx="4953000" cy="3302000"/>
          </a:xfrm>
          <a:prstGeom prst="rect">
            <a:avLst/>
          </a:prstGeom>
          <a:solidFill>
            <a:srgbClr val="F8FAFC"/>
          </a:solidFill>
          <a:ln>
            <a:solidFill>
              <a:srgbClr val="D9E2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6654800" y="2159000"/>
            <a:ext cx="45466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Trong đề tài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51600" y="2006600"/>
            <a:ext cx="76200" cy="3302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6680200" y="2616200"/>
            <a:ext cx="4521200" cy="90170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Đầu vào: nhãn YOLO, số lượng đối tượng, confidence trung bình, nhóm đối tượng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Đầu ra: danh mục chi tiêu dự đoán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Phù hợp với dữ liệu bảng nhỏ, dễ giải thích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33400" y="6413500"/>
            <a:ext cx="7112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Đề tài cuối môn: YOLO + Random Forest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10947400" y="6413500"/>
            <a:ext cx="381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r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9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33400" y="431800"/>
            <a:ext cx="10668000" cy="51689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2700" b="1">
                <a:solidFill>
                  <a:srgbClr val="162D42"/>
                </a:solidFill>
                <a:latin typeface="Aptos" charset="0"/>
                <a:cs typeface="Aptos" charset="0"/>
              </a:rPr>
              <a:t>Ví dụ Random Forest</a:t>
            </a:r>
            <a:endParaRPr lang="en-US" sz="27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84200" y="1143000"/>
            <a:ext cx="10414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>
                <a:solidFill>
                  <a:srgbClr val="5D6A77"/>
                </a:solidFill>
                <a:latin typeface="Aptos" charset="0"/>
                <a:cs typeface="Aptos" charset="0"/>
              </a:rPr>
              <a:t>Minh họa voting cho bài toán phân loại chi tiêu</a:t>
            </a:r>
            <a:endParaRPr lang="en-US" sz="1200">
              <a:solidFill>
                <a:srgbClr val="5D6A77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4200" y="1574800"/>
            <a:ext cx="2667000" cy="38100"/>
          </a:xfrm>
          <a:prstGeom prst="rect">
            <a:avLst/>
          </a:prstGeom>
          <a:solidFill>
            <a:srgbClr val="1B7E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89000" y="1968500"/>
            <a:ext cx="3429000" cy="2667000"/>
          </a:xfrm>
          <a:prstGeom prst="rect">
            <a:avLst/>
          </a:prstGeom>
          <a:solidFill>
            <a:srgbClr val="F8FAFC"/>
          </a:solidFill>
          <a:ln>
            <a:solidFill>
              <a:srgbClr val="D9E2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1092200" y="2120900"/>
            <a:ext cx="30226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Feature đầu vào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9000" y="1968500"/>
            <a:ext cx="76200" cy="2667000"/>
          </a:xfrm>
          <a:prstGeom prst="rect">
            <a:avLst/>
          </a:prstGeom>
          <a:solidFill>
            <a:srgbClr val="1B7E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117600" y="2578100"/>
            <a:ext cx="2997200" cy="90170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object_main = cup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object_count = 1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confidence_avg = 0.91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object_group = food_drink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73600" y="1968500"/>
            <a:ext cx="3175000" cy="2667000"/>
          </a:xfrm>
          <a:prstGeom prst="rect">
            <a:avLst/>
          </a:prstGeom>
          <a:solidFill>
            <a:srgbClr val="F8FAFC"/>
          </a:solidFill>
          <a:ln>
            <a:solidFill>
              <a:srgbClr val="D9E2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4876800" y="2120900"/>
            <a:ext cx="27686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Voting của các cây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73600" y="1968500"/>
            <a:ext cx="76200" cy="2667000"/>
          </a:xfrm>
          <a:prstGeom prst="rect">
            <a:avLst/>
          </a:prstGeom>
          <a:solidFill>
            <a:srgbClr val="4B556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4902200" y="2578100"/>
            <a:ext cx="2743200" cy="110172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Cây 1: Ăn uống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Cây 2: Ăn uống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Cây 3: Mua sắm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Cây 4: Ăn uống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Cây 5: Ăn uống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4200" y="1968500"/>
            <a:ext cx="3175000" cy="2667000"/>
          </a:xfrm>
          <a:prstGeom prst="rect">
            <a:avLst/>
          </a:prstGeom>
          <a:solidFill>
            <a:srgbClr val="F8FAFC"/>
          </a:solidFill>
          <a:ln>
            <a:solidFill>
              <a:srgbClr val="D9E2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8407400" y="2120900"/>
            <a:ext cx="27686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Kết quả cuối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4200" y="1968500"/>
            <a:ext cx="76200" cy="2667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8432800" y="2578100"/>
            <a:ext cx="2743200" cy="70167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Đa số phiếu: Ăn uống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Có thể kèm xác suất dự đoán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Người dùng kiểm tra lại nếu cần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533400" y="6413500"/>
            <a:ext cx="7112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Đề tài cuối môn: YOLO + Random Forest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0947400" y="6413500"/>
            <a:ext cx="381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r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10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33400" y="431800"/>
            <a:ext cx="10668000" cy="51689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2700" b="1">
                <a:solidFill>
                  <a:srgbClr val="162D42"/>
                </a:solidFill>
                <a:latin typeface="Aptos" charset="0"/>
                <a:cs typeface="Aptos" charset="0"/>
              </a:rPr>
              <a:t>Quy trình dự kiến cuối môn</a:t>
            </a:r>
            <a:endParaRPr lang="en-US" sz="27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84200" y="1143000"/>
            <a:ext cx="10414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>
                <a:solidFill>
                  <a:srgbClr val="5D6A77"/>
                </a:solidFill>
                <a:latin typeface="Aptos" charset="0"/>
                <a:cs typeface="Aptos" charset="0"/>
              </a:rPr>
              <a:t>Pipeline chính cần trình bày và thử nghiệm</a:t>
            </a:r>
            <a:endParaRPr lang="en-US" sz="1200">
              <a:solidFill>
                <a:srgbClr val="5D6A77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4200" y="1574800"/>
            <a:ext cx="2667000" cy="38100"/>
          </a:xfrm>
          <a:prstGeom prst="rect">
            <a:avLst/>
          </a:prstGeom>
          <a:solidFill>
            <a:srgbClr val="1B7E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89000" y="2413000"/>
            <a:ext cx="1651000" cy="1117600"/>
          </a:xfrm>
          <a:prstGeom prst="rect">
            <a:avLst/>
          </a:prstGeom>
          <a:solidFill>
            <a:srgbClr val="F8FAFC"/>
          </a:solidFill>
          <a:ln w="25400">
            <a:solidFill>
              <a:srgbClr val="1B7E8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990600" y="2590800"/>
            <a:ext cx="14478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ctr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Ảnh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990600" y="2946400"/>
            <a:ext cx="1447800" cy="25527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ctr"/>
            <a:r>
              <a:rPr lang="en-US" sz="1000">
                <a:solidFill>
                  <a:srgbClr val="495563"/>
                </a:solidFill>
                <a:latin typeface="Aptos" charset="0"/>
                <a:cs typeface="Aptos" charset="0"/>
              </a:rPr>
              <a:t>chụp/tải ảnh</a:t>
            </a:r>
            <a:endParaRPr lang="en-US" sz="1000">
              <a:solidFill>
                <a:srgbClr val="495563"/>
              </a:solidFill>
              <a:latin typeface="Aptos" charset="0"/>
              <a:cs typeface="Aptos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94000" y="2413000"/>
            <a:ext cx="1651000" cy="1117600"/>
          </a:xfrm>
          <a:prstGeom prst="rect">
            <a:avLst/>
          </a:prstGeom>
          <a:solidFill>
            <a:srgbClr val="F8FAFC"/>
          </a:solidFill>
          <a:ln w="25400">
            <a:solidFill>
              <a:srgbClr val="1B7E8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2895600" y="2590800"/>
            <a:ext cx="14478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ctr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YOLO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895600" y="2946400"/>
            <a:ext cx="1447800" cy="40894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ctr"/>
            <a:r>
              <a:rPr lang="en-US" sz="1000">
                <a:solidFill>
                  <a:srgbClr val="495563"/>
                </a:solidFill>
                <a:latin typeface="Aptos" charset="0"/>
                <a:cs typeface="Aptos" charset="0"/>
              </a:rPr>
              <a:t>box + class + confidence</a:t>
            </a:r>
            <a:endParaRPr lang="en-US" sz="1000">
              <a:solidFill>
                <a:srgbClr val="495563"/>
              </a:solidFill>
              <a:latin typeface="Aptos" charset="0"/>
              <a:cs typeface="Aptos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953000" y="2413000"/>
            <a:ext cx="1651000" cy="1117600"/>
          </a:xfrm>
          <a:prstGeom prst="rect">
            <a:avLst/>
          </a:prstGeom>
          <a:solidFill>
            <a:srgbClr val="F8FAFC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5054600" y="2590800"/>
            <a:ext cx="14478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ctr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Feature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054600" y="2946400"/>
            <a:ext cx="1447800" cy="40894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ctr"/>
            <a:r>
              <a:rPr lang="en-US" sz="1000">
                <a:solidFill>
                  <a:srgbClr val="495563"/>
                </a:solidFill>
                <a:latin typeface="Aptos" charset="0"/>
                <a:cs typeface="Aptos" charset="0"/>
              </a:rPr>
              <a:t>mã hóa kết quả nhận diện</a:t>
            </a:r>
            <a:endParaRPr lang="en-US" sz="1000">
              <a:solidFill>
                <a:srgbClr val="495563"/>
              </a:solidFill>
              <a:latin typeface="Aptos" charset="0"/>
              <a:cs typeface="Aptos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239000" y="2413000"/>
            <a:ext cx="1651000" cy="1117600"/>
          </a:xfrm>
          <a:prstGeom prst="rect">
            <a:avLst/>
          </a:prstGeom>
          <a:solidFill>
            <a:srgbClr val="F8FAFC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7340600" y="2590800"/>
            <a:ext cx="1447800" cy="56324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ctr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Random Forest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7340600" y="2946400"/>
            <a:ext cx="1447800" cy="25527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ctr"/>
            <a:r>
              <a:rPr lang="en-US" sz="1000">
                <a:solidFill>
                  <a:srgbClr val="495563"/>
                </a:solidFill>
                <a:latin typeface="Aptos" charset="0"/>
                <a:cs typeface="Aptos" charset="0"/>
              </a:rPr>
              <a:t>dự đoán danh mục</a:t>
            </a:r>
            <a:endParaRPr lang="en-US" sz="1000">
              <a:solidFill>
                <a:srgbClr val="495563"/>
              </a:solidFill>
              <a:latin typeface="Aptos" charset="0"/>
              <a:cs typeface="Aptos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652000" y="2413000"/>
            <a:ext cx="1651000" cy="1117600"/>
          </a:xfrm>
          <a:prstGeom prst="rect">
            <a:avLst/>
          </a:prstGeom>
          <a:solidFill>
            <a:srgbClr val="F8FAFC"/>
          </a:solidFill>
          <a:ln w="25400">
            <a:solidFill>
              <a:srgbClr val="4B556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9753600" y="2590800"/>
            <a:ext cx="14478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ctr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Đánh giá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9753600" y="2946400"/>
            <a:ext cx="1447800" cy="40894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ctr"/>
            <a:r>
              <a:rPr lang="en-US" sz="1000">
                <a:solidFill>
                  <a:srgbClr val="495563"/>
                </a:solidFill>
                <a:latin typeface="Aptos" charset="0"/>
                <a:cs typeface="Aptos" charset="0"/>
              </a:rPr>
              <a:t>accuracy, confusion matrix</a:t>
            </a:r>
            <a:endParaRPr lang="en-US" sz="1000">
              <a:solidFill>
                <a:srgbClr val="495563"/>
              </a:solidFill>
              <a:latin typeface="Aptos" charset="0"/>
              <a:cs typeface="Aptos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2565400" y="2794000"/>
            <a:ext cx="508000" cy="40894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ctr"/>
            <a:r>
              <a:rPr lang="en-US" sz="2000" b="1">
                <a:solidFill>
                  <a:srgbClr val="5D6A77"/>
                </a:solidFill>
                <a:latin typeface="Aptos" charset="0"/>
                <a:cs typeface="Aptos" charset="0"/>
              </a:rPr>
              <a:t>-&gt;</a:t>
            </a:r>
            <a:endParaRPr lang="en-US" sz="2000" b="1">
              <a:solidFill>
                <a:srgbClr val="5D6A77"/>
              </a:solidFill>
              <a:latin typeface="Aptos" charset="0"/>
              <a:cs typeface="Aptos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4724400" y="2794000"/>
            <a:ext cx="508000" cy="40894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ctr"/>
            <a:r>
              <a:rPr lang="en-US" sz="2000" b="1">
                <a:solidFill>
                  <a:srgbClr val="5D6A77"/>
                </a:solidFill>
                <a:latin typeface="Aptos" charset="0"/>
                <a:cs typeface="Aptos" charset="0"/>
              </a:rPr>
              <a:t>-&gt;</a:t>
            </a:r>
            <a:endParaRPr lang="en-US" sz="2000" b="1">
              <a:solidFill>
                <a:srgbClr val="5D6A77"/>
              </a:solidFill>
              <a:latin typeface="Aptos" charset="0"/>
              <a:cs typeface="Aptos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7010400" y="2794000"/>
            <a:ext cx="508000" cy="40894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ctr"/>
            <a:r>
              <a:rPr lang="en-US" sz="2000" b="1">
                <a:solidFill>
                  <a:srgbClr val="5D6A77"/>
                </a:solidFill>
                <a:latin typeface="Aptos" charset="0"/>
                <a:cs typeface="Aptos" charset="0"/>
              </a:rPr>
              <a:t>-&gt;</a:t>
            </a:r>
            <a:endParaRPr lang="en-US" sz="2000" b="1">
              <a:solidFill>
                <a:srgbClr val="5D6A77"/>
              </a:solidFill>
              <a:latin typeface="Aptos" charset="0"/>
              <a:cs typeface="Aptos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9423400" y="2794000"/>
            <a:ext cx="508000" cy="40894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ctr"/>
            <a:r>
              <a:rPr lang="en-US" sz="2000" b="1">
                <a:solidFill>
                  <a:srgbClr val="5D6A77"/>
                </a:solidFill>
                <a:latin typeface="Aptos" charset="0"/>
                <a:cs typeface="Aptos" charset="0"/>
              </a:rPr>
              <a:t>-&gt;</a:t>
            </a:r>
            <a:endParaRPr lang="en-US" sz="2000" b="1">
              <a:solidFill>
                <a:srgbClr val="5D6A77"/>
              </a:solidFill>
              <a:latin typeface="Aptos" charset="0"/>
              <a:cs typeface="Aptos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1333500" y="4445000"/>
            <a:ext cx="9525000" cy="56324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ctr"/>
            <a:r>
              <a:rPr lang="en-US" sz="1500">
                <a:solidFill>
                  <a:srgbClr val="2A3746"/>
                </a:solidFill>
                <a:latin typeface="Aptos" charset="0"/>
                <a:cs typeface="Aptos" charset="0"/>
              </a:rPr>
              <a:t>Sản phẩm cuối môn không nhất thiết là app hoàn chỉnh; trọng tâm là chứng minh được cách YOLO kết hợp Random Forest để phân loại danh mục chi tiêu từ ảnh.</a:t>
            </a:r>
            <a:endParaRPr lang="en-US" sz="15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533400" y="6413500"/>
            <a:ext cx="7112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Đề tài cuối môn: YOLO + Random Forest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10947400" y="6413500"/>
            <a:ext cx="381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r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11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33400" y="431800"/>
            <a:ext cx="10668000" cy="51689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2700" b="1">
                <a:solidFill>
                  <a:srgbClr val="162D42"/>
                </a:solidFill>
                <a:latin typeface="Aptos" charset="0"/>
                <a:cs typeface="Aptos" charset="0"/>
              </a:rPr>
              <a:t>Nội dung chính dự kiến</a:t>
            </a:r>
            <a:endParaRPr lang="en-US" sz="27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84200" y="1143000"/>
            <a:ext cx="10414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>
                <a:solidFill>
                  <a:srgbClr val="5D6A77"/>
                </a:solidFill>
                <a:latin typeface="Aptos" charset="0"/>
                <a:cs typeface="Aptos" charset="0"/>
              </a:rPr>
              <a:t>Các phần sẽ có trong báo cáo và demo cuối môn</a:t>
            </a:r>
            <a:endParaRPr lang="en-US" sz="1200">
              <a:solidFill>
                <a:srgbClr val="5D6A77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4200" y="1574800"/>
            <a:ext cx="2667000" cy="38100"/>
          </a:xfrm>
          <a:prstGeom prst="rect">
            <a:avLst/>
          </a:prstGeom>
          <a:solidFill>
            <a:srgbClr val="1B7E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60400" y="1968500"/>
            <a:ext cx="3429000" cy="3175000"/>
          </a:xfrm>
          <a:prstGeom prst="rect">
            <a:avLst/>
          </a:prstGeom>
          <a:solidFill>
            <a:srgbClr val="F8FAFC"/>
          </a:solidFill>
          <a:ln>
            <a:solidFill>
              <a:srgbClr val="D9E2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863600" y="2120900"/>
            <a:ext cx="30226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1. Dữ liệu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0400" y="1968500"/>
            <a:ext cx="76200" cy="3175000"/>
          </a:xfrm>
          <a:prstGeom prst="rect">
            <a:avLst/>
          </a:prstGeom>
          <a:solidFill>
            <a:srgbClr val="1B7E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889000" y="2578100"/>
            <a:ext cx="2997200" cy="90170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Thu thập ảnh mẫu theo nhóm chi tiêu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Gán nhãn đối tượng cần nhận diện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Chia tập train/validation/test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81500" y="1968500"/>
            <a:ext cx="3429000" cy="3175000"/>
          </a:xfrm>
          <a:prstGeom prst="rect">
            <a:avLst/>
          </a:prstGeom>
          <a:solidFill>
            <a:srgbClr val="F8FAFC"/>
          </a:solidFill>
          <a:ln>
            <a:solidFill>
              <a:srgbClr val="D9E2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4584700" y="2120900"/>
            <a:ext cx="30226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2. Mô hình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81500" y="1968500"/>
            <a:ext cx="76200" cy="3175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4610100" y="2578100"/>
            <a:ext cx="2997200" cy="70167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Huấn luyện hoặc fine-tune YOLO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Thiết kế feature cho Random Forest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Huấn luyện và đánh giá bộ phân loại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102600" y="1968500"/>
            <a:ext cx="3429000" cy="3175000"/>
          </a:xfrm>
          <a:prstGeom prst="rect">
            <a:avLst/>
          </a:prstGeom>
          <a:solidFill>
            <a:srgbClr val="F8FAFC"/>
          </a:solidFill>
          <a:ln>
            <a:solidFill>
              <a:srgbClr val="D9E2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8305800" y="2120900"/>
            <a:ext cx="3022600" cy="332105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500" b="1">
                <a:solidFill>
                  <a:srgbClr val="162D42"/>
                </a:solidFill>
                <a:latin typeface="Aptos" charset="0"/>
                <a:cs typeface="Aptos" charset="0"/>
              </a:rPr>
              <a:t>3. Đánh giá</a:t>
            </a:r>
            <a:endParaRPr lang="en-US" sz="15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02600" y="1968500"/>
            <a:ext cx="76200" cy="3175000"/>
          </a:xfrm>
          <a:prstGeom prst="rect">
            <a:avLst/>
          </a:prstGeom>
          <a:solidFill>
            <a:srgbClr val="4B556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8331200" y="2578100"/>
            <a:ext cx="2997200" cy="90170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YOLO: precision, recall, mAP/IoU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Random Forest: accuracy, confusion matrix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  <a:p>
            <a:pPr algn="l"/>
            <a:r>
              <a:rPr lang="en-US" sz="1300">
                <a:solidFill>
                  <a:srgbClr val="2A3746"/>
                </a:solidFill>
                <a:latin typeface="Aptos" charset="0"/>
                <a:cs typeface="Aptos" charset="0"/>
              </a:rPr>
              <a:t>• Phân tích lỗi và hướng cải thiện</a:t>
            </a:r>
            <a:endParaRPr lang="en-US" sz="13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533400" y="6413500"/>
            <a:ext cx="7112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Đề tài cuối môn: YOLO + Random Forest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0947400" y="6413500"/>
            <a:ext cx="381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r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12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33400" y="431800"/>
            <a:ext cx="10668000" cy="51689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2700" b="1">
                <a:solidFill>
                  <a:srgbClr val="162D42"/>
                </a:solidFill>
                <a:latin typeface="Aptos" charset="0"/>
                <a:cs typeface="Aptos" charset="0"/>
              </a:rPr>
              <a:t>Dự kiến phân công công việc</a:t>
            </a:r>
            <a:endParaRPr lang="en-US" sz="27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84200" y="1143000"/>
            <a:ext cx="10414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>
                <a:solidFill>
                  <a:srgbClr val="5D6A77"/>
                </a:solidFill>
                <a:latin typeface="Aptos" charset="0"/>
                <a:cs typeface="Aptos" charset="0"/>
              </a:rPr>
              <a:t>Có thể điều chỉnh theo tình hình triển khai thực tế</a:t>
            </a:r>
            <a:endParaRPr lang="en-US" sz="1200">
              <a:solidFill>
                <a:srgbClr val="5D6A77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4200" y="1574800"/>
            <a:ext cx="2667000" cy="38100"/>
          </a:xfrm>
          <a:prstGeom prst="rect">
            <a:avLst/>
          </a:prstGeom>
          <a:solidFill>
            <a:srgbClr val="1B7E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12800" y="1905000"/>
            <a:ext cx="10287000" cy="482600"/>
          </a:xfrm>
          <a:prstGeom prst="rect">
            <a:avLst/>
          </a:prstGeom>
          <a:solidFill>
            <a:srgbClr val="162D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990600" y="2006600"/>
            <a:ext cx="2413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 b="1">
                <a:solidFill>
                  <a:srgbClr val="FFFFFF"/>
                </a:solidFill>
                <a:latin typeface="Aptos" charset="0"/>
                <a:cs typeface="Aptos" charset="0"/>
              </a:rPr>
              <a:t>Thành viên</a:t>
            </a:r>
            <a:endParaRPr lang="en-US" sz="12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657600" y="2006600"/>
            <a:ext cx="7366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 b="1">
                <a:solidFill>
                  <a:srgbClr val="FFFFFF"/>
                </a:solidFill>
                <a:latin typeface="Aptos" charset="0"/>
                <a:cs typeface="Aptos" charset="0"/>
              </a:rPr>
              <a:t>Nhiệm vụ chính</a:t>
            </a:r>
            <a:endParaRPr lang="en-US" sz="12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2800" y="2438400"/>
            <a:ext cx="10287000" cy="6858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990600" y="2578100"/>
            <a:ext cx="2413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 b="1">
                <a:solidFill>
                  <a:srgbClr val="162D42"/>
                </a:solidFill>
                <a:latin typeface="Aptos" charset="0"/>
                <a:cs typeface="Aptos" charset="0"/>
              </a:rPr>
              <a:t>Phạm Thế Sang</a:t>
            </a:r>
            <a:endParaRPr lang="en-US" sz="12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657600" y="2540000"/>
            <a:ext cx="7366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>
                <a:solidFill>
                  <a:srgbClr val="2A3746"/>
                </a:solidFill>
                <a:latin typeface="Aptos" charset="0"/>
                <a:cs typeface="Aptos" charset="0"/>
              </a:rPr>
              <a:t>Tìm hiểu YOLO/CNN, chuẩn bị dữ liệu ảnh, gán nhãn đối tượng</a:t>
            </a:r>
            <a:endParaRPr lang="en-US" sz="12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12800" y="3225800"/>
            <a:ext cx="10287000" cy="6858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990600" y="3365500"/>
            <a:ext cx="2413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 b="1">
                <a:solidFill>
                  <a:srgbClr val="162D42"/>
                </a:solidFill>
                <a:latin typeface="Aptos" charset="0"/>
                <a:cs typeface="Aptos" charset="0"/>
              </a:rPr>
              <a:t>Nguyễn Kim Quang</a:t>
            </a:r>
            <a:endParaRPr lang="en-US" sz="12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3657600" y="3327400"/>
            <a:ext cx="7366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>
                <a:solidFill>
                  <a:srgbClr val="2A3746"/>
                </a:solidFill>
                <a:latin typeface="Aptos" charset="0"/>
                <a:cs typeface="Aptos" charset="0"/>
              </a:rPr>
              <a:t>Thiết kế pipeline YOLO -&gt; feature -&gt; Random Forest, xử lý dữ liệu đầu vào</a:t>
            </a:r>
            <a:endParaRPr lang="en-US" sz="12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2800" y="4013200"/>
            <a:ext cx="10287000" cy="6858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990600" y="4152900"/>
            <a:ext cx="2413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 b="1">
                <a:solidFill>
                  <a:srgbClr val="162D42"/>
                </a:solidFill>
                <a:latin typeface="Aptos" charset="0"/>
                <a:cs typeface="Aptos" charset="0"/>
              </a:rPr>
              <a:t>Nguyễn Duy Khánh</a:t>
            </a:r>
            <a:endParaRPr lang="en-US" sz="12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3657600" y="4114800"/>
            <a:ext cx="7366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>
                <a:solidFill>
                  <a:srgbClr val="2A3746"/>
                </a:solidFill>
                <a:latin typeface="Aptos" charset="0"/>
                <a:cs typeface="Aptos" charset="0"/>
              </a:rPr>
              <a:t>Huấn luyện/thử nghiệm Random Forest, đánh giá kết quả phân loại</a:t>
            </a:r>
            <a:endParaRPr lang="en-US" sz="12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2800" y="4800600"/>
            <a:ext cx="10287000" cy="6858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990600" y="4940300"/>
            <a:ext cx="2413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 b="1">
                <a:solidFill>
                  <a:srgbClr val="162D42"/>
                </a:solidFill>
                <a:latin typeface="Aptos" charset="0"/>
                <a:cs typeface="Aptos" charset="0"/>
              </a:rPr>
              <a:t>Hoàng Bích Diệp</a:t>
            </a:r>
            <a:endParaRPr lang="en-US" sz="1200" b="1">
              <a:solidFill>
                <a:srgbClr val="162D42"/>
              </a:solidFill>
              <a:latin typeface="Aptos" charset="0"/>
              <a:cs typeface="Aptos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3657600" y="4902200"/>
            <a:ext cx="7366000" cy="28575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1200">
                <a:solidFill>
                  <a:srgbClr val="2A3746"/>
                </a:solidFill>
                <a:latin typeface="Aptos" charset="0"/>
                <a:cs typeface="Aptos" charset="0"/>
              </a:rPr>
              <a:t>Tổng hợp lý thuyết, làm slide/báo cáo, kiểm thử và phân tích lỗi</a:t>
            </a:r>
            <a:endParaRPr lang="en-US" sz="1200">
              <a:solidFill>
                <a:srgbClr val="2A3746"/>
              </a:solidFill>
              <a:latin typeface="Aptos" charset="0"/>
              <a:cs typeface="Aptos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533400" y="6413500"/>
            <a:ext cx="7112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l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Đề tài cuối môn: YOLO + Random Forest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10947400" y="6413500"/>
            <a:ext cx="381000" cy="240030"/>
          </a:xfrm>
          <a:prstGeom prst="rect">
            <a:avLst/>
          </a:prstGeom>
          <a:noFill/>
        </p:spPr>
        <p:txBody>
          <a:bodyPr wrap="square" lIns="76200" tIns="50800" rIns="76200" bIns="50800" rtlCol="0" anchor="t">
            <a:spAutoFit/>
          </a:bodyPr>
          <a:p>
            <a:pPr algn="r"/>
            <a:r>
              <a:rPr lang="en-US" sz="900">
                <a:solidFill>
                  <a:srgbClr val="697582"/>
                </a:solidFill>
                <a:latin typeface="Aptos" charset="0"/>
                <a:cs typeface="Aptos" charset="0"/>
              </a:rPr>
              <a:t>13</a:t>
            </a:r>
            <a:endParaRPr lang="en-US" sz="900">
              <a:solidFill>
                <a:srgbClr val="697582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5497</Words>
  <Application>WPS Presentation</Application>
  <PresentationFormat>Widescreen</PresentationFormat>
  <Paragraphs>309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Wingdings</vt:lpstr>
      <vt:lpstr>Arial Unicode MS</vt:lpstr>
      <vt:lpstr>Microsoft YaHei</vt:lpstr>
      <vt:lpstr>Aptos</vt:lpstr>
      <vt:lpstr>Segoe UI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ACER</dc:creator>
  <cp:lastModifiedBy>Quang Nguyễn</cp:lastModifiedBy>
  <cp:revision>1</cp:revision>
  <dcterms:created xsi:type="dcterms:W3CDTF">2026-05-26T00:12:07Z</dcterms:created>
  <dcterms:modified xsi:type="dcterms:W3CDTF">2026-05-26T00:12:07Z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AC657D1D3B23437285A1201C6E23974C_11</vt:lpwstr>
  </property>
</Properties>
</file>