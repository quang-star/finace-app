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191000" y="0"/>
            <a:ext cx="609600" cy="68580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63600" y="889000"/>
            <a:ext cx="939800" cy="381000"/>
          </a:xfrm>
          <a:prstGeom prst="round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14400" y="965200"/>
            <a:ext cx="838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930400" y="889000"/>
            <a:ext cx="1752600" cy="3810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981200" y="965200"/>
            <a:ext cx="1651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63600" y="1752600"/>
            <a:ext cx="3175000" cy="3067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5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ĐỀ TÀI CUỐI MÔN HỌC</a:t>
            </a:r>
            <a:endParaRPr lang="en-US" sz="15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978400" y="1498600"/>
            <a:ext cx="5969000" cy="16452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Nhận diện đối tượng chi tiêu từ ảnh và phân loại danh mục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029200" y="3302000"/>
            <a:ext cx="5461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>
                <a:solidFill>
                  <a:srgbClr val="E1E8F0"/>
                </a:solidFill>
                <a:latin typeface="Segoe UI" panose="020B0502040204020203" charset="0"/>
                <a:cs typeface="Segoe UI" panose="020B0502040204020203" charset="0"/>
              </a:rPr>
              <a:t>Trọng tâm học phần: YOLO phát hiện đối tượng + Random Forest dự đoán danh mục chi tiêu. Không trình bày toàn bộ ứng dụng quản lý chi tiêu.</a:t>
            </a:r>
            <a:endParaRPr lang="en-US" sz="1400">
              <a:solidFill>
                <a:srgbClr val="E1E8F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03800" y="4572000"/>
            <a:ext cx="990600" cy="5334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50546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Ảnh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59944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99200" y="4572000"/>
            <a:ext cx="990600" cy="533400"/>
          </a:xfrm>
          <a:prstGeom prst="round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63500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72898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94600" y="4572000"/>
            <a:ext cx="990600" cy="5334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76454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5852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890000" y="4572000"/>
            <a:ext cx="990600" cy="5334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89408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RF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98806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185400" y="4572000"/>
            <a:ext cx="990600" cy="533400"/>
          </a:xfrm>
          <a:prstGeom prst="roundRect">
            <a:avLst/>
          </a:prstGeom>
          <a:solidFill>
            <a:srgbClr val="CB475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02362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Danh mục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863600" y="5461000"/>
            <a:ext cx="3175000" cy="6299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Nhóm 3: Phạm Thế Sang - Nguyễn Kim Quang - Nguyễn Duy Khánh - Hoàng Bích Diệp</a:t>
            </a:r>
            <a:endParaRPr lang="en-US" sz="12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863600" y="6248400"/>
            <a:ext cx="304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DEEBF0"/>
                </a:solidFill>
                <a:latin typeface="Segoe UI" panose="020B0502040204020203" charset="0"/>
                <a:cs typeface="Segoe UI" panose="020B0502040204020203" charset="0"/>
              </a:rPr>
              <a:t>GVHD: TS. Nguyễn Quốc Huy</a:t>
            </a:r>
            <a:endParaRPr lang="en-US" sz="1100">
              <a:solidFill>
                <a:srgbClr val="DEEBF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TỔNG QUAN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Nội dung trình bày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Cấu trúc bám đúng yêu cầu: đề tài, lý thuyết, ví dụ nhỏ, nội dung cuối môn và phân công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14400" y="21590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193800" y="2463800"/>
            <a:ext cx="711200" cy="7112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270000" y="26543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133600" y="24384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2159000" y="28702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Bài toán, lý do chọn đề tài, phạm vi trong môn học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21400" y="21590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400800" y="2463800"/>
            <a:ext cx="711200" cy="7112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6477000" y="26543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7340600" y="24384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Cơ sở lý thuyết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7366000" y="2870200"/>
            <a:ext cx="27305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CNN, YOLO, IoU/NMS và Random Forest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40005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193800" y="4305300"/>
            <a:ext cx="711200" cy="7112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1270000" y="44958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133600" y="42799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Ví dụ minh họa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2159000" y="47117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nhận diện đối tượng và Random Forest voting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21400" y="40005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400800" y="4305300"/>
            <a:ext cx="711200" cy="7112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6477000" y="44958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04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340600" y="42799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Kế hoạch cuối môn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7366000" y="47117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Pipeline, dữ liệu, đánh giá và phân công nhóm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2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5683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Nhận diện đối tượng xuất hiện trong ảnh chi tiêu và dùng kết quả đó để gợi ý danh mục bằng Random Forest.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Bài toán và hướng giải quyết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Tập trung vào phần mô hình, không biến nội dung thành toàn bộ project app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62000" y="2032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066800" y="2387600"/>
            <a:ext cx="2032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Vấn đề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092200" y="2946400"/>
            <a:ext cx="2286000" cy="16046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Nhập danh mục chi tiêu thủ công mất thời gian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Ảnh món ăn, đồ uống, sách vở, quần áo có nhiều tín hiệu phân loại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Cần hệ thống gợi ý để người dùng kiểm tra lại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46600" y="1981200"/>
            <a:ext cx="3098800" cy="327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775200" y="2159000"/>
            <a:ext cx="1651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ẢNH ĐẦU VÀO</a:t>
            </a:r>
            <a:endParaRPr lang="en-US" sz="9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80000" y="2717800"/>
            <a:ext cx="1803400" cy="215900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461000" y="3149600"/>
            <a:ext cx="1041400" cy="1041400"/>
          </a:xfrm>
          <a:prstGeom prst="ellipse">
            <a:avLst/>
          </a:prstGeom>
          <a:solidFill>
            <a:srgbClr val="A6DC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664200" y="4191000"/>
            <a:ext cx="635000" cy="736600"/>
          </a:xfrm>
          <a:prstGeom prst="rect">
            <a:avLst/>
          </a:prstGeom>
          <a:solidFill>
            <a:srgbClr val="57A9B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223000" y="2768600"/>
            <a:ext cx="101600" cy="1168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270500" y="2971800"/>
            <a:ext cx="167640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5334000" y="30226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 0.91</a:t>
            </a:r>
            <a:endParaRPr lang="en-US" sz="9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59500" y="2705100"/>
            <a:ext cx="254000" cy="13081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6426200" y="2717800"/>
            <a:ext cx="9144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E88D26"/>
                </a:solidFill>
                <a:latin typeface="Segoe UI" panose="020B0502040204020203" charset="0"/>
                <a:cs typeface="Segoe UI" panose="020B0502040204020203" charset="0"/>
              </a:rPr>
              <a:t>straw 0.78</a:t>
            </a:r>
            <a:endParaRPr lang="en-US" sz="900" b="1">
              <a:solidFill>
                <a:srgbClr val="E88D26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55000" y="2032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8559800" y="2387600"/>
            <a:ext cx="2286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Hướng giải quyết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8585200" y="2946400"/>
            <a:ext cx="23368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YOLO phát hiện đối tượng trong ảnh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Chuyển kết quả thành feature dạng bảng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Random Forest dự đoán danh mục chi tiêu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4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Phạm vi trong môn học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Giữ trọng tâm vào YOLO + Random Forest để báo cáo rõ và đúng yêu cầu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90600" y="2159000"/>
            <a:ext cx="4572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90600" y="2159000"/>
            <a:ext cx="4572000" cy="6858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295400" y="2336800"/>
            <a:ext cx="2794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Tập trung làm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397000" y="3175000"/>
            <a:ext cx="3302000" cy="15608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Tìm hiểu CNN, YOLO và Random Forest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Xây dựng pipeline YOLO -&gt; feature -&gt; Random Forest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Thử nghiệm với dữ liệu ảnh mẫu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Đánh giá kết quả mô hình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04000" y="2159000"/>
            <a:ext cx="4572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604000" y="2159000"/>
            <a:ext cx="4572000" cy="685800"/>
          </a:xfrm>
          <a:prstGeom prst="rect">
            <a:avLst/>
          </a:prstGeom>
          <a:solidFill>
            <a:srgbClr val="CB475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6908800" y="2336800"/>
            <a:ext cx="2794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Không tập trung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010400" y="3175000"/>
            <a:ext cx="3403600" cy="199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trình bày toàn bộ app quản lý chi tiêu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đi sâu đăng nhập, ví tiền, báo cáo tài chính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dùng YOLO để đọc chữ/số tiền hóa đơn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Nếu cần đọc chữ/số tiền phải dùng OCR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5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Cơ sở lý thuyết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5683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Các khái niệm cần nắm: CNN học đặc trưng ảnh, YOLO phát hiện đối tượng, Random Forest phân loại từ feature.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CNN và YOLO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dùng mạng học sâu để dự đoán vị trí, nhãn và độ tin cậy của đối tượng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87400" y="2032000"/>
            <a:ext cx="4953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143000" y="2362200"/>
            <a:ext cx="3302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CNN học đặc trưng ảnh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68400" y="3175000"/>
            <a:ext cx="736600" cy="10160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1231900" y="42926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Ảnh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08200" y="3022600"/>
            <a:ext cx="736600" cy="1320800"/>
          </a:xfrm>
          <a:prstGeom prst="round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2171700" y="4445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Cạnh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0" y="2870200"/>
            <a:ext cx="736600" cy="16256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111500" y="45974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Texture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987800" y="2717800"/>
            <a:ext cx="736600" cy="19304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4051300" y="47498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Hình dạng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51600" y="2032000"/>
            <a:ext cx="4953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6807200" y="2362200"/>
            <a:ext cx="3556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 phát hiện đối tượng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883400" y="2946400"/>
            <a:ext cx="3556000" cy="17760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Xử lý toàn ảnh trong một lần dự đoán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Đầu ra: bounding box + class + confidence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Phù hợp với ảnh đồ vật, món ăn, sản phẩm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thay thế OCR khi cần đọc chữ trên hóa đơn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0" y="4699000"/>
            <a:ext cx="812800" cy="3810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6908800" y="4775200"/>
            <a:ext cx="711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box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97800" y="4699000"/>
            <a:ext cx="939800" cy="3810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7848600" y="4775200"/>
            <a:ext cx="838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class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64600" y="4699000"/>
            <a:ext cx="1422400" cy="3810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8915400" y="4775200"/>
            <a:ext cx="13208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confidence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7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VÍ DỤ NHỎ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 trong đề tài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Minh họa một ảnh đồ uống được phát hiện thành nhãn và độ tin cậy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016000" y="2032000"/>
            <a:ext cx="37084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244600" y="2209800"/>
            <a:ext cx="1651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ẢNH ĐẦU VÀO</a:t>
            </a:r>
            <a:endParaRPr lang="en-US" sz="9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49400" y="2768600"/>
            <a:ext cx="1803400" cy="215900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930400" y="3200400"/>
            <a:ext cx="1041400" cy="1041400"/>
          </a:xfrm>
          <a:prstGeom prst="ellipse">
            <a:avLst/>
          </a:prstGeom>
          <a:solidFill>
            <a:srgbClr val="A6DC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33600" y="4241800"/>
            <a:ext cx="635000" cy="736600"/>
          </a:xfrm>
          <a:prstGeom prst="rect">
            <a:avLst/>
          </a:prstGeom>
          <a:solidFill>
            <a:srgbClr val="57A9B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692400" y="2819400"/>
            <a:ext cx="101600" cy="1168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739900" y="3022600"/>
            <a:ext cx="167640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1803400" y="30734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 0.91</a:t>
            </a:r>
            <a:endParaRPr lang="en-US" sz="9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28900" y="2755900"/>
            <a:ext cx="254000" cy="13081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2895600" y="2768600"/>
            <a:ext cx="9144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E88D26"/>
                </a:solidFill>
                <a:latin typeface="Segoe UI" panose="020B0502040204020203" charset="0"/>
                <a:cs typeface="Segoe UI" panose="020B0502040204020203" charset="0"/>
              </a:rPr>
              <a:t>straw 0.78</a:t>
            </a:r>
            <a:endParaRPr lang="en-US" sz="900" b="1">
              <a:solidFill>
                <a:srgbClr val="E88D26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61000" y="2032000"/>
            <a:ext cx="5588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5867400" y="2387600"/>
            <a:ext cx="3048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0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Kết quả YOLO</a:t>
            </a:r>
            <a:endParaRPr lang="en-US" sz="20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5918200" y="2984500"/>
            <a:ext cx="3302000" cy="11918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cup: confidence 0.91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straw: confidence 0.78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object_count = 2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object_group = food_drink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18200" y="4699000"/>
            <a:ext cx="3810000" cy="12700"/>
          </a:xfrm>
          <a:prstGeom prst="rect">
            <a:avLst/>
          </a:prstGeom>
          <a:solidFill>
            <a:srgbClr val="DCE4E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5918200" y="4978400"/>
            <a:ext cx="3810000" cy="67627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Ý nghĩa: các kết quả này được mã hóa thành feature để Random Forest dự đoán danh mục 'Ăn uống'.</a:t>
            </a:r>
            <a:endParaRPr lang="en-US" sz="13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8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Confidence, IoU và NMS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Các bước giúp lọc kết quả YOLO trước khi đưa sang Random Forest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8890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270000" y="2514600"/>
            <a:ext cx="2032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295400" y="3098800"/>
            <a:ext cx="1955800" cy="876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Mức tin cậy của mô hình với một dự đoán. Ví dụ: cup 0.91 có thể giữ lại, cup 0.32 có thể bỏ.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12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902200" y="2514600"/>
            <a:ext cx="1524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IoU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30800" y="3302000"/>
            <a:ext cx="1168400" cy="889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715000" y="3657600"/>
            <a:ext cx="1168400" cy="889000"/>
          </a:xfrm>
          <a:prstGeom prst="rect">
            <a:avLst/>
          </a:prstGeom>
          <a:solidFill>
            <a:srgbClr val="FFFFFF"/>
          </a:solidFill>
          <a:ln w="381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4902200" y="4394200"/>
            <a:ext cx="2032000" cy="44513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Đo mức chồng lấn giữa hai bounding box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534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8534400" y="2514600"/>
            <a:ext cx="1524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NMS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8559800" y="3149600"/>
            <a:ext cx="1905000" cy="12045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Giữ box confidence cao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Loại box trùng lặp nhiều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Làm kết quả gọn hơn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9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Nhiều cây quyết định cùng dự đoán, kết quả cuối chọn theo đa số phiếu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778000" y="2349500"/>
            <a:ext cx="609600" cy="6096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8288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T1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57400" y="2959100"/>
            <a:ext cx="50800" cy="6096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0" y="3568700"/>
            <a:ext cx="1117600" cy="508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2192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4130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860800" y="2349500"/>
            <a:ext cx="609600" cy="6096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9116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T2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40200" y="2959100"/>
            <a:ext cx="50800" cy="609600"/>
          </a:xfrm>
          <a:prstGeom prst="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606800" y="3568700"/>
            <a:ext cx="1117600" cy="50800"/>
          </a:xfrm>
          <a:prstGeom prst="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3020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16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4958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16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943600" y="2349500"/>
            <a:ext cx="609600" cy="6096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59944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T3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23000" y="2959100"/>
            <a:ext cx="50800" cy="6096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689600" y="3568700"/>
            <a:ext cx="1117600" cy="508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3848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5786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026400" y="2349500"/>
            <a:ext cx="609600" cy="6096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80772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T4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305800" y="2959100"/>
            <a:ext cx="50800" cy="6096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72400" y="3568700"/>
            <a:ext cx="1117600" cy="508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4676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2A9D6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86614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2A9D6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9271000" y="2184400"/>
            <a:ext cx="2159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Text Box 32"/>
          <p:cNvSpPr txBox="1"/>
          <p:nvPr/>
        </p:nvSpPr>
        <p:spPr>
          <a:xfrm>
            <a:off x="9702800" y="2540000"/>
            <a:ext cx="127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0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Voting</a:t>
            </a:r>
            <a:endParaRPr lang="en-US" sz="20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9702800" y="3124200"/>
            <a:ext cx="1270000" cy="8045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Ăn uống: 3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Mua sắm: 1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Học tập: 0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499600" y="4343400"/>
            <a:ext cx="1625600" cy="3810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Text Box 35"/>
          <p:cNvSpPr txBox="1"/>
          <p:nvPr/>
        </p:nvSpPr>
        <p:spPr>
          <a:xfrm>
            <a:off x="9550400" y="4419600"/>
            <a:ext cx="1524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Kết quả: Ăn uống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1270000" y="5461000"/>
            <a:ext cx="9144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3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Trong đề tài, Random Forest nhận feature từ YOLO như object_main, object_count, confidence_avg và object_group.</a:t>
            </a:r>
            <a:endParaRPr lang="en-US" sz="13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10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VÍ DỤ NHỎ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Feature cho Random Forest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Chuyển kết quả nhận diện thành dữ liệu dạng bảng để mô hình phân loại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39800" y="2133600"/>
            <a:ext cx="10312400" cy="5334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117600" y="22733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276600" y="22733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Ví dụ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562600" y="2273300"/>
            <a:ext cx="5207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Ý nghĩa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9800" y="27178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117600" y="28829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object_main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276600" y="28829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5562600" y="28702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Đối tượng chính YOLO phát hiện trong ảnh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39800" y="33782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1117600" y="35433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object_count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276600" y="35433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2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5562600" y="35306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Số đối tượng xuất hiện sau khi lọc NMS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39800" y="40386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1117600" y="42037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confidence_avg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3276600" y="42037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0.845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5562600" y="41910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Độ tin cậy trung bình của các object được giữ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39800" y="46990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117600" y="48641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object_group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276600" y="48641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food_drink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5562600" y="48514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Nhóm đối tượng dùng để gợi ý danh mục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11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Nội dung cuối môn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Xây dựng quy trình thử nghiệm từ ảnh đầu vào đến kết quả phân loại và đánh giá mô hình.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Pipeline dự kiến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Đây là phần chính sẽ triển khai và báo cáo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366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270000" y="2209800"/>
            <a:ext cx="762000" cy="7620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3462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8890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Thu thập ảnh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9144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Món ăn, đồ uống, sách, quần áo...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9210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454400" y="2209800"/>
            <a:ext cx="762000" cy="7620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5306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0734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0988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Phát hiện box, class, confidence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1054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638800" y="2209800"/>
            <a:ext cx="762000" cy="7620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7150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52578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2832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Mã hóa kết quả nhận diện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898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823200" y="2209800"/>
            <a:ext cx="762000" cy="7620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78994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04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4422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74676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Dự đoán danh mục chi tiêu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742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0007600" y="2209800"/>
            <a:ext cx="762000" cy="762000"/>
          </a:xfrm>
          <a:prstGeom prst="ellipse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100838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05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96266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Đánh giá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96520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Accuracy, confusion matrix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25654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47498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69342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91186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1524000" y="5080000"/>
            <a:ext cx="9144000" cy="3067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Sản phẩm cuối môn có thể là demo pipeline + báo cáo đánh giá, không bắt buộc phải là app hoàn chỉnh.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13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Nội dung chính dự kiến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Các đầu việc cần có trong báo cáo và demo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39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9800" y="2133600"/>
            <a:ext cx="2794000" cy="6604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193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Dữ liệu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244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Thu thập ảnh mẫu theo danh mục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Gán nhãn object cho YOLO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Chia train / validation / test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8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368800" y="2133600"/>
            <a:ext cx="2794000" cy="660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4622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Mô hình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673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Huấn luyện hoặc fine-tune YOLO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Thiết kế feature đầu vào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Huấn luyện Random Forest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97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97800" y="2133600"/>
            <a:ext cx="2794000" cy="6604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8051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Đánh giá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8102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YOLO: precision, recall, mAP/IoU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RF: accuracy, confusion matrix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Phân tích lỗi và cải thiện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14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Dự kiến phân công công việc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Phân chia theo đúng trọng tâm YOLO + Random Forest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092200" y="21082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22400" y="2273300"/>
            <a:ext cx="431800" cy="4318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498600" y="23749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P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108200" y="22860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Phạm Thế Sang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800600" y="22987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YOLO/CNN, dataset, gán nhãn object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92200" y="30226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422400" y="3187700"/>
            <a:ext cx="431800" cy="4318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1498600" y="32893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2108200" y="32004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Nguyễn Kim Quang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800600" y="32131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Pipeline YOLO -&gt; feature, xử lý dữ liệu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2200" y="39370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422400" y="4102100"/>
            <a:ext cx="431800" cy="4318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1498600" y="42037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108200" y="41148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Nguyễn Duy Khánh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4800600" y="41275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Random Forest, huấn luyện và đánh giá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92200" y="48514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422400" y="5016500"/>
            <a:ext cx="431800" cy="4318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498600" y="51181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H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2108200" y="50292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Hoàng Bích Diệp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4800600" y="50419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Tổng hợp lý thuyết, slide, báo cáo, kiểm thử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2082800" y="5969000"/>
            <a:ext cx="7874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Cảm ơn thầy và các bạn đã lắng nghe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15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5269</Words>
  <Application>WPS Presentation</Application>
  <PresentationFormat>Widescreen</PresentationFormat>
  <Paragraphs>400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Arial Unicode MS</vt:lpstr>
      <vt:lpstr>Microsoft YaHei</vt:lpstr>
      <vt:lpstr>Segoe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ACER</dc:creator>
  <cp:lastModifiedBy>Quang Nguyễn</cp:lastModifiedBy>
  <cp:revision>1</cp:revision>
  <dcterms:created xsi:type="dcterms:W3CDTF">2026-05-26T00:21:07Z</dcterms:created>
  <dcterms:modified xsi:type="dcterms:W3CDTF">2026-05-26T00:21:08Z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443A6DA34FF149B0A8F85A026AFA2CC4_11</vt:lpwstr>
  </property>
</Properties>
</file>